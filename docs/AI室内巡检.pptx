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BA6D8-8D2E-4D0A-BE8E-31E20C5548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E6449-D191-4008-92DF-F242E861A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939800"/>
            <a:ext cx="76200" cy="3810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2200" y="1168400"/>
            <a:ext cx="9652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基于 </a:t>
            </a:r>
            <a:r>
              <a:rPr lang="en-US" altLang="zh-CN" sz="3400" b="1">
                <a:solidFill>
                  <a:srgbClr val="111827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视觉的虚拟室内巡检实践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0" y="21844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>
                <a:solidFill>
                  <a:srgbClr val="4B5563"/>
                </a:solidFill>
                <a:latin typeface="微软雅黑" panose="020B0503020204020204" pitchFamily="34" charset="-122"/>
              </a:rPr>
              <a:t>国际创新实践周本科生学分课程导入</a:t>
            </a:r>
            <a:endParaRPr lang="zh-CN" altLang="en-US" sz="22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" y="3302000"/>
            <a:ext cx="9906000" cy="119443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课程目标：构建虚拟室内场景，生成风险样本，调用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完成风险识别与解释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7600" y="5740400"/>
            <a:ext cx="838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课程定位：虚拟场景 </a:t>
            </a:r>
            <a:r>
              <a:rPr lang="en-US" altLang="zh-CN" sz="20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风险生成 </a:t>
            </a:r>
            <a:r>
              <a:rPr lang="en-US" altLang="zh-CN" sz="2000" b="1">
                <a:solidFill>
                  <a:srgbClr val="1D4E89"/>
                </a:solidFill>
                <a:latin typeface="微软雅黑" panose="020B0503020204020204" pitchFamily="34" charset="-122"/>
              </a:rPr>
              <a:t>+ VLM </a:t>
            </a:r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识别 </a:t>
            </a:r>
            <a:r>
              <a:rPr lang="en-US" altLang="zh-CN" sz="20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可解释报告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课程导入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本节课讲什么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81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任务边界、技术路线和交付要求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02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3622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为什么选择“室内巡检”作为实践主题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" y="29464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参考的三篇研究工作提供了什么基础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" y="35306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3.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学生具体要完成什么任务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2200" y="41148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4.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如何设计虚拟场景与室内风险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2200" y="46990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5.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如何用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完成识别与约束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" y="52832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6.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最终提交什么，如何评价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一、问题背景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我们要解决的不是“看图识物”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室内巡检更接近空间状态理解与风险判断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03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普通视觉识别：图像中有什么物体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室内巡检：这些物体是否构成风险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关键差异：风险往往由位置、状态和空间关系共同决定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课程目标：让学生把“图像观察”转化为“风险报告”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一、问题背景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例子：同一个水杯可能对应不同风险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物体类别相同，但空间关系不同，风险结论不同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04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7400" y="2565400"/>
            <a:ext cx="2514600" cy="21590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6000" y="2997200"/>
            <a:ext cx="203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 b="1">
                <a:solidFill>
                  <a:srgbClr val="111827"/>
                </a:solidFill>
                <a:latin typeface="微软雅黑" panose="020B0503020204020204" pitchFamily="34" charset="-122"/>
              </a:rPr>
              <a:t>餐桌中央</a:t>
            </a:r>
            <a:endParaRPr lang="zh-CN" altLang="en-US" sz="22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6000" y="3632200"/>
            <a:ext cx="203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通常正常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06800" y="2565400"/>
            <a:ext cx="2514600" cy="21590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35400" y="2997200"/>
            <a:ext cx="203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 b="1">
                <a:solidFill>
                  <a:srgbClr val="111827"/>
                </a:solidFill>
                <a:latin typeface="微软雅黑" panose="020B0503020204020204" pitchFamily="34" charset="-122"/>
              </a:rPr>
              <a:t>靠近插座</a:t>
            </a:r>
            <a:endParaRPr lang="zh-CN" altLang="en-US" sz="22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35400" y="3632200"/>
            <a:ext cx="203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可能触电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426200" y="2565400"/>
            <a:ext cx="2514600" cy="21590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54800" y="2997200"/>
            <a:ext cx="203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 b="1">
                <a:solidFill>
                  <a:srgbClr val="111827"/>
                </a:solidFill>
                <a:latin typeface="微软雅黑" panose="020B0503020204020204" pitchFamily="34" charset="-122"/>
              </a:rPr>
              <a:t>放在桌沿</a:t>
            </a:r>
            <a:endParaRPr lang="zh-CN" altLang="en-US" sz="22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54800" y="3632200"/>
            <a:ext cx="203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可能坠落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245600" y="2565400"/>
            <a:ext cx="2514600" cy="21590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474200" y="2997200"/>
            <a:ext cx="203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 b="1">
                <a:solidFill>
                  <a:srgbClr val="111827"/>
                </a:solidFill>
                <a:latin typeface="微软雅黑" panose="020B0503020204020204" pitchFamily="34" charset="-122"/>
              </a:rPr>
              <a:t>倒在地面</a:t>
            </a:r>
            <a:endParaRPr lang="zh-CN" altLang="en-US" sz="22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474200" y="3632200"/>
            <a:ext cx="2032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可能滑倒或损坏设备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一、问题背景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风险判断的基本形式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本课程建议用关系式理解室内风险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05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5200" y="2514600"/>
            <a:ext cx="10414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风险 </a:t>
            </a:r>
            <a:r>
              <a:rPr lang="en-US" altLang="zh-CN" sz="2600" b="1">
                <a:solidFill>
                  <a:srgbClr val="1D4E89"/>
                </a:solidFill>
                <a:latin typeface="微软雅黑" panose="020B0503020204020204" pitchFamily="34" charset="-122"/>
              </a:rPr>
              <a:t>= </a:t>
            </a:r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物体 </a:t>
            </a:r>
            <a:r>
              <a:rPr lang="en-US" altLang="zh-CN" sz="26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区域 </a:t>
            </a:r>
            <a:r>
              <a:rPr lang="en-US" altLang="zh-CN" sz="26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状态 </a:t>
            </a:r>
            <a:r>
              <a:rPr lang="en-US" altLang="zh-CN" sz="26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空间关系 </a:t>
            </a:r>
            <a:r>
              <a:rPr lang="en-US" altLang="zh-CN" sz="2600" b="1">
                <a:solidFill>
                  <a:srgbClr val="1D4E89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600" b="1">
                <a:solidFill>
                  <a:srgbClr val="1D4E89"/>
                </a:solidFill>
                <a:latin typeface="微软雅黑" panose="020B0503020204020204" pitchFamily="34" charset="-122"/>
              </a:rPr>
              <a:t>场景语义</a:t>
            </a:r>
            <a:endParaRPr lang="zh-CN" altLang="en-US" sz="26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19200" y="3429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物体：水杯、插座、线缆、纸张、箱子、电器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区域：地面、桌面、门口、通道、插座附近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状态：干湿、开关、高低、远近、整洁程度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关系：靠近、阻塞、暴露、悬空、可触达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1473200"/>
            <a:ext cx="76200" cy="3302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7600" y="1905000"/>
            <a:ext cx="965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二、研究基础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0" y="2794000"/>
            <a:ext cx="9652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三篇论文提供的基础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" y="38608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>
                <a:solidFill>
                  <a:srgbClr val="4B5563"/>
                </a:solidFill>
                <a:latin typeface="微软雅黑" panose="020B0503020204020204" pitchFamily="34" charset="-122"/>
              </a:rPr>
              <a:t>我们不复现论文，而是借鉴其中的任务思想和数据构造方式</a:t>
            </a:r>
            <a:endParaRPr lang="zh-CN" altLang="en-US" sz="22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二、研究基础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三篇论文与本课程的对应关系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从大规模研究问题中抽取本科实践任务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07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200" y="2413000"/>
            <a:ext cx="2374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5400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</a:rPr>
              <a:t>BEHAVIOR-1K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86100" y="2413000"/>
            <a:ext cx="38862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213100" y="2540000"/>
            <a:ext cx="36322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日常活动、室内场景、物体状态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72300" y="2413000"/>
            <a:ext cx="4533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099300" y="2540000"/>
            <a:ext cx="4279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启发学生构造虚拟室内场景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1200" y="3403600"/>
            <a:ext cx="2374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8200" y="35306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</a:rPr>
              <a:t>ESI-BENCH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86100" y="3403600"/>
            <a:ext cx="38862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213100" y="3530600"/>
            <a:ext cx="36322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具身空间智能、遮挡、距离、视角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72300" y="3403600"/>
            <a:ext cx="4533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099300" y="3530600"/>
            <a:ext cx="4279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启发学生关注空间关系和观察充分性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1200" y="4394200"/>
            <a:ext cx="2374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4521200"/>
            <a:ext cx="2120900" cy="666849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</a:rPr>
              <a:t>HomeSafeBench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86100" y="4394200"/>
            <a:ext cx="38862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213100" y="4521200"/>
            <a:ext cx="36322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家庭安全巡检、风险类别、</a:t>
            </a:r>
            <a:r>
              <a:rPr lang="en-US" altLang="zh-CN" sz="2000">
                <a:latin typeface="微软雅黑" panose="020B0503020204020204" pitchFamily="34" charset="-122"/>
              </a:rPr>
              <a:t>VLM </a:t>
            </a:r>
            <a:r>
              <a:rPr lang="zh-CN" altLang="en-US" sz="2000">
                <a:latin typeface="微软雅黑" panose="020B0503020204020204" pitchFamily="34" charset="-122"/>
              </a:rPr>
              <a:t>评测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972300" y="4394200"/>
            <a:ext cx="4533900" cy="990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99300" y="4521200"/>
            <a:ext cx="4279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直接提供课程任务原型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二、研究基础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BEHAVIOR-1K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：场景、物体与状态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它说明室内环境可以被系统化构造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08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包含大量日常活动、室内场景和物体类别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强调物体不仅有类别，还有状态与属性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适合启发我们设计“正常状态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风险状态”对照样本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学生不需要复现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BEHAVIOR-1K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，只需要借鉴其场景构造思想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二、研究基础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ESI-BENCH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：空间智能比物体识别更难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室内风险识别需要理解遮挡、距离、连通和视角变化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09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风险判断常常依赖空间关系，而不是单个物体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单张图可能看不全，多视角也可能引入噪声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可能过早下结论，缺少证据充分性判断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对课程的启发：记录模型判断依据，分析它为什么错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二、研究基础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HomeSafeBench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：家庭安全巡检任务原型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最接近本课程主题的基准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10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任务：让视觉语言模型在家庭环境中发现安全隐患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风险类型：火灾、触电、坠物、绊倒、儿童安全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结论：当前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在家庭安全巡检上仍不可靠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对课程的启发：做一个小型、可控、可解释的实践版本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1473200"/>
            <a:ext cx="76200" cy="3302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7600" y="1905000"/>
            <a:ext cx="965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0" y="2794000"/>
            <a:ext cx="9652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学生具体要做什么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" y="38608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>
                <a:solidFill>
                  <a:srgbClr val="4B5563"/>
                </a:solidFill>
                <a:latin typeface="微软雅黑" panose="020B0503020204020204" pitchFamily="34" charset="-122"/>
              </a:rPr>
              <a:t>构建一个小型虚拟室内巡检数据与识别系统</a:t>
            </a:r>
            <a:endParaRPr lang="zh-CN" altLang="en-US" sz="22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项目总体流程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每组都需要跑通这条技术链路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12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2800" y="2997200"/>
            <a:ext cx="1752600" cy="914400"/>
          </a:xfrm>
          <a:prstGeom prst="rect">
            <a:avLst/>
          </a:prstGeom>
          <a:solidFill>
            <a:srgbClr val="EEF5FB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3276600"/>
            <a:ext cx="1397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构造室内场景</a:t>
            </a:r>
            <a:endParaRPr lang="zh-CN" altLang="en-US" sz="2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92400" y="3276600"/>
            <a:ext cx="381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→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97200" y="2997200"/>
            <a:ext cx="1752600" cy="914400"/>
          </a:xfrm>
          <a:prstGeom prst="rect">
            <a:avLst/>
          </a:prstGeom>
          <a:solidFill>
            <a:srgbClr val="EEF5FB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175000" y="3276600"/>
            <a:ext cx="1397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生成风险样本</a:t>
            </a:r>
            <a:endParaRPr lang="zh-CN" altLang="en-US" sz="2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76800" y="3276600"/>
            <a:ext cx="381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→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81600" y="2997200"/>
            <a:ext cx="1752600" cy="914400"/>
          </a:xfrm>
          <a:prstGeom prst="rect">
            <a:avLst/>
          </a:prstGeom>
          <a:solidFill>
            <a:srgbClr val="EEF5FB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59400" y="3276600"/>
            <a:ext cx="1397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调用 </a:t>
            </a:r>
            <a:r>
              <a:rPr lang="en-US" altLang="zh-CN" sz="2000" b="1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识别</a:t>
            </a:r>
            <a:endParaRPr lang="zh-CN" altLang="en-US" sz="2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1200" y="3276600"/>
            <a:ext cx="381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→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366000" y="2997200"/>
            <a:ext cx="1752600" cy="914400"/>
          </a:xfrm>
          <a:prstGeom prst="rect">
            <a:avLst/>
          </a:prstGeom>
          <a:solidFill>
            <a:srgbClr val="EEF5FB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43800" y="3276600"/>
            <a:ext cx="1397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约束输出格式</a:t>
            </a:r>
            <a:endParaRPr lang="zh-CN" altLang="en-US" sz="2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45600" y="3276600"/>
            <a:ext cx="381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→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550400" y="2997200"/>
            <a:ext cx="1752600" cy="914400"/>
          </a:xfrm>
          <a:prstGeom prst="rect">
            <a:avLst/>
          </a:prstGeom>
          <a:solidFill>
            <a:srgbClr val="EEF5FB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728200" y="3276600"/>
            <a:ext cx="1397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11827"/>
                </a:solidFill>
                <a:latin typeface="微软雅黑" panose="020B0503020204020204" pitchFamily="34" charset="-122"/>
              </a:rPr>
              <a:t>形成巡检报告</a:t>
            </a:r>
            <a:endParaRPr lang="zh-CN" altLang="en-US" sz="2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任务 </a:t>
            </a:r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：构建虚拟室内场景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先有可控、可解释、可修改的室内数据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13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场景类型：宿舍、厨房、客厅、实验室、走廊等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实现方式：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生成图、公开图片、简单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场景、网页拼接、真实照片改造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要求：每个场景能说明区域、物体、状态和可能风险点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不要求平台复杂，但要求数据可复用、可解释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任务 </a:t>
            </a:r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：设计室内风险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风险样本由学生主动构造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14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正常场景与风险场景成对出现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每类风险要有明确规则和判断依据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建议每组先选择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3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到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5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类风险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风险设计要符合真实生活经验，不能只追求夸张效果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建议风险类型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每组可从中选择 </a:t>
            </a:r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3 </a:t>
            </a:r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到 </a:t>
            </a:r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5 </a:t>
            </a:r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类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15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200" y="2235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362200"/>
            <a:ext cx="2120900" cy="359073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通道阻塞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86100" y="223520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213100" y="2362200"/>
            <a:ext cx="4927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箱子、椅子、杂物挡住门口或过道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67700" y="2235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94700" y="2362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通行风险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1200" y="2870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8200" y="2922905"/>
            <a:ext cx="2120900" cy="359073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触电风险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86100" y="287020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213100" y="2997200"/>
            <a:ext cx="4927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水杯、积水靠近插座或电器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67700" y="2870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394700" y="2997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电气安全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1200" y="3505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36322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火灾风险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86100" y="350520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213100" y="3632200"/>
            <a:ext cx="4927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纸张、布料靠近热源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267700" y="3505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94700" y="3632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消防安全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1200" y="4140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38200" y="42672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坠物风险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086100" y="414020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213100" y="4267200"/>
            <a:ext cx="4927600" cy="359073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物体放在高处边缘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67700" y="4140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394700" y="4267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人身安全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1200" y="4775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8200" y="49022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危险物暴露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152775" y="476377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213100" y="4902200"/>
            <a:ext cx="4927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刀具、化学品等处于不合适位置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67700" y="4775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394700" y="4902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管理风险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1200" y="5410200"/>
            <a:ext cx="23749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38200" y="5537200"/>
            <a:ext cx="21209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清洁度异常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086100" y="5410200"/>
            <a:ext cx="51816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213100" y="5537200"/>
            <a:ext cx="4927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垃圾、污渍、杂乱堆积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267700" y="5410200"/>
            <a:ext cx="323850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394700" y="5537200"/>
            <a:ext cx="2984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环境状态评估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三、课程任务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任务 </a:t>
            </a:r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：生成巡检输入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输入可以是单图，也可以是多视角或短视频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16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基础版：单张室内图像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进阶版：同一场景的多张局部视角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扩展版：短视频或虚拟相机移动截图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比较问题：单视角和多视角下，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哪些风险更容易漏掉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1473200"/>
            <a:ext cx="76200" cy="3302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7600" y="1905000"/>
            <a:ext cx="965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四、技术实现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0" y="2794000"/>
            <a:ext cx="9652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400" b="1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3400" b="1">
                <a:solidFill>
                  <a:srgbClr val="111827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如何使用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" y="3860800"/>
            <a:ext cx="9652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200">
                <a:solidFill>
                  <a:srgbClr val="4B5563"/>
                </a:solidFill>
                <a:latin typeface="微软雅黑" panose="020B0503020204020204" pitchFamily="34" charset="-122"/>
              </a:rPr>
              <a:t>重点不是训练模型，而是定义任务、约束输出、分析错误</a:t>
            </a:r>
            <a:endParaRPr lang="zh-CN" altLang="en-US" sz="22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四、技术实现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在本课程中的角色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把视觉观察转化为语言化风险判断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18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输入：图像、视频帧或多视角图片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输出：风险类型、相关物体、位置、等级、判断依据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优势：无需从零训练，能快速形成原型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问题：可能漏检、幻觉、空间关系判断不准、输出不稳定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四、技术实现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3000" b="1">
                <a:solidFill>
                  <a:srgbClr val="111827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设计：不要只写一句“识别风险”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一个可用 </a:t>
            </a:r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至少包含四部分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19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4400" y="2413000"/>
            <a:ext cx="10312400" cy="31750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44600" y="2717800"/>
            <a:ext cx="9652000" cy="17902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任务说明：请检查室内安全隐患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关注对象：地面、通道、插座、热源、危险物、清洁度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风险规则：哪些物体关系构成风险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输出格式：类型、物体、位置、等级、依据、建议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四、技术实现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建议输出格式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结构化输出便于展示和评测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20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4400" y="2413000"/>
            <a:ext cx="10312400" cy="383540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44600" y="2717800"/>
            <a:ext cx="9652000" cy="31906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has_risk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：是否存在风险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type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：风险类型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objects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：相关物体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location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：位置描述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level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：风险等级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reason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：判断依据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suggestion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：处理建议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四、技术实现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风险约束：先给规则，再让模型判断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减少模型随意发挥，提高输出稳定性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21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22570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液体靠近插座或电器 → 触电风险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易燃物靠近热源 → 火灾风险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物体位于通道中央 → 通行或绊倒风险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危险物处于易触达区域 → 暴露风险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输出时要求模型引用触发规则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1473200"/>
            <a:ext cx="76200" cy="3302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7600" y="1905000"/>
            <a:ext cx="965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0" y="2794000"/>
            <a:ext cx="9652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最后要交付什么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最小可行系统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先跑通，不追求一开始就复杂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23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2723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准备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10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到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20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张室内场景图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设计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3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类风险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完成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个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调用流程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设计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套结构化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Prompt</a:t>
            </a:r>
            <a:endParaRPr lang="en-US" altLang="zh-CN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输出风险报告并展示若干案例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记录至少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3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个失败案例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进阶方向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能力较强的小组可以选择扩展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24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2723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多视角或短视频输入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自动生成风险场景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比较不同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或不同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Prompt</a:t>
            </a:r>
            <a:endParaRPr lang="en-US" altLang="zh-CN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加入传统检测模型作为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baseline</a:t>
            </a:r>
            <a:endParaRPr lang="en-US" altLang="zh-CN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增加风险位置标注或可视化界面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分析模型在遮挡、光照、视角变化下的稳定性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最终提交内容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不仅提交 </a:t>
            </a:r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，还要提交过程材料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25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31906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场景图像或视频数据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风险类别和规则说明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Prompt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设计文档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代码、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Notebook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或演示程序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模型识别结果样例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失败案例分析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最终展示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PPT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或课程报告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评价标准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完整闭环比单点炫技更重要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26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200" y="2362200"/>
            <a:ext cx="30226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489200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场景与风险设计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33800" y="2362200"/>
            <a:ext cx="47498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60800" y="2489200"/>
            <a:ext cx="4495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是否合理、可解释、有对照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1200" y="3098800"/>
            <a:ext cx="30226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8200" y="3225800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 b="1">
                <a:latin typeface="微软雅黑" panose="020B0503020204020204" pitchFamily="34" charset="-122"/>
              </a:rPr>
              <a:t>Prompt </a:t>
            </a:r>
            <a:r>
              <a:rPr lang="zh-CN" altLang="en-US" sz="2000" b="1">
                <a:latin typeface="微软雅黑" panose="020B0503020204020204" pitchFamily="34" charset="-122"/>
              </a:rPr>
              <a:t>与模型调用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33800" y="3098800"/>
            <a:ext cx="47498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860800" y="3225800"/>
            <a:ext cx="4495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任务描述是否清楚，输出是否稳定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1200" y="3835400"/>
            <a:ext cx="30226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8200" y="3962400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系统完整性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733800" y="3835400"/>
            <a:ext cx="47498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860800" y="3962400"/>
            <a:ext cx="4495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是否能完成输入、识别、输出、展示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1200" y="4572000"/>
            <a:ext cx="30226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4699000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分析深度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33800" y="4572000"/>
            <a:ext cx="47498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860800" y="4699000"/>
            <a:ext cx="4495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是否分析成功和失败原因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11200" y="5308600"/>
            <a:ext cx="30226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8200" y="5435600"/>
            <a:ext cx="2768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</a:rPr>
              <a:t>团队协作</a:t>
            </a:r>
            <a:endParaRPr lang="zh-CN" altLang="en-US" sz="2000" b="1">
              <a:latin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733800" y="5308600"/>
            <a:ext cx="4749800" cy="73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860800" y="5435600"/>
            <a:ext cx="4495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分工是否明确，答辩是否清楚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五、系统与评价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失败案例必须保留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模型错误是理解问题的重要证据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27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22570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漏检：关键物体或小目标没有被发现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误检：不存在的风险被报告出来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关系错误：距离、接触、阻塞判断不准确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等级错误：风险等级高低不稳定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改进思路：换视角、补规则、改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Prompt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、加入检测模型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55600"/>
            <a:ext cx="3302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 b="1">
                <a:solidFill>
                  <a:srgbClr val="1D4E89"/>
                </a:solidFill>
                <a:latin typeface="微软雅黑" panose="020B0503020204020204" pitchFamily="34" charset="-122"/>
              </a:rPr>
              <a:t>六、总结</a:t>
            </a:r>
            <a:endParaRPr lang="zh-CN" altLang="en-US" sz="20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787400"/>
            <a:ext cx="9652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000" b="1">
                <a:solidFill>
                  <a:srgbClr val="111827"/>
                </a:solidFill>
                <a:latin typeface="微软雅黑" panose="020B0503020204020204" pitchFamily="34" charset="-122"/>
              </a:rPr>
              <a:t>这门课训练什么能力</a:t>
            </a:r>
            <a:endParaRPr lang="zh-CN" altLang="en-US" sz="30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498600"/>
            <a:ext cx="9906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不是训练大模型，而是训练 </a:t>
            </a:r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4B5563"/>
                </a:solidFill>
                <a:latin typeface="微软雅黑" panose="020B0503020204020204" pitchFamily="34" charset="-122"/>
              </a:rPr>
              <a:t>系统思维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5800" y="1955800"/>
            <a:ext cx="10795000" cy="2540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4400" y="6248400"/>
            <a:ext cx="558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CN" sz="2000">
                <a:solidFill>
                  <a:srgbClr val="4B5563"/>
                </a:solidFill>
                <a:latin typeface="微软雅黑" panose="020B0503020204020204" pitchFamily="34" charset="-122"/>
              </a:rPr>
              <a:t>28</a:t>
            </a:r>
            <a:endParaRPr lang="zh-CN" altLang="en-US" sz="2000">
              <a:solidFill>
                <a:srgbClr val="4B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2200" y="2413000"/>
            <a:ext cx="9906000" cy="2723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把现实问题转化成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任务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构造可控数据和风险样本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设计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和规则约束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调用 </a:t>
            </a: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VLM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并解析输出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分析模型能力边界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完成可展示的系统闭环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76200" cy="4191000"/>
          </a:xfrm>
          <a:prstGeom prst="rect">
            <a:avLst/>
          </a:prstGeom>
          <a:solidFill>
            <a:srgbClr val="1D4E89"/>
          </a:solidFill>
          <a:ln>
            <a:solidFill>
              <a:srgbClr val="1D4E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7600" y="1422400"/>
            <a:ext cx="9906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3400" b="1">
                <a:solidFill>
                  <a:srgbClr val="111827"/>
                </a:solidFill>
                <a:latin typeface="微软雅黑" panose="020B0503020204020204" pitchFamily="34" charset="-122"/>
              </a:rPr>
              <a:t>一句话总结</a:t>
            </a:r>
            <a:endParaRPr lang="zh-CN" altLang="en-US" sz="3400" b="1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000" y="2489200"/>
            <a:ext cx="9906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构造室内场景 → 生成风险样本 → 调用 </a:t>
            </a:r>
            <a:r>
              <a:rPr lang="en-US" altLang="zh-CN" sz="2400" b="1">
                <a:solidFill>
                  <a:srgbClr val="1D4E89"/>
                </a:solidFill>
                <a:latin typeface="微软雅黑" panose="020B0503020204020204" pitchFamily="34" charset="-122"/>
              </a:rPr>
              <a:t>VLM → </a:t>
            </a:r>
            <a:r>
              <a:rPr lang="zh-CN" altLang="en-US" sz="2400" b="1">
                <a:solidFill>
                  <a:srgbClr val="1D4E89"/>
                </a:solidFill>
                <a:latin typeface="微软雅黑" panose="020B0503020204020204" pitchFamily="34" charset="-122"/>
              </a:rPr>
              <a:t>输出巡检报告</a:t>
            </a:r>
            <a:endParaRPr lang="zh-CN" altLang="en-US" sz="2400" b="1">
              <a:solidFill>
                <a:srgbClr val="1D4E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4600" y="3632200"/>
            <a:ext cx="9652000" cy="22570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从小场景开始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把风险规则说清楚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让模型按规则判断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认真分析失败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11827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111827"/>
                </a:solidFill>
                <a:latin typeface="微软雅黑" panose="020B0503020204020204" pitchFamily="34" charset="-122"/>
              </a:rPr>
              <a:t>做出可展示闭环</a:t>
            </a:r>
            <a:endParaRPr lang="zh-CN" altLang="en-US" sz="2200">
              <a:solidFill>
                <a:srgbClr val="11182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3226</Words>
  <Application>WPS 演示</Application>
  <PresentationFormat>自定义</PresentationFormat>
  <Paragraphs>446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Haodi Zhong</dc:creator>
  <cp:lastModifiedBy>微信用户</cp:lastModifiedBy>
  <cp:revision>5</cp:revision>
  <dcterms:created xsi:type="dcterms:W3CDTF">2026-06-29T11:33:00Z</dcterms:created>
  <dcterms:modified xsi:type="dcterms:W3CDTF">2026-06-30T06:22:44Z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9C4878AD48CB431BB3C31DCC228D2366_12</vt:lpwstr>
  </property>
  <property fmtid="{D5CDD505-2E9C-101B-9397-08002B2CF9AE}" pid="3" name="KSOProductBuildVer">
    <vt:lpwstr>2052-12.1.0.25865</vt:lpwstr>
  </property>
</Properties>
</file>